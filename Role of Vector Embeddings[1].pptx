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77" r:id="rId11"/>
    <p:sldId id="266" r:id="rId12"/>
    <p:sldId id="267" r:id="rId13"/>
    <p:sldId id="268" r:id="rId14"/>
    <p:sldId id="269" r:id="rId15"/>
    <p:sldId id="273" r:id="rId16"/>
    <p:sldId id="270" r:id="rId17"/>
    <p:sldId id="271"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110"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11/19/2024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11/19/2024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11/19/2024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11/19/2024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11/19/2024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11/19/2024</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11/19/2024</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11/19/2024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11/19/2024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11/19/2024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11/19/2024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11/19/2024</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2EE68-705D-90D9-087D-A02AC5E14710}"/>
              </a:ext>
            </a:extLst>
          </p:cNvPr>
          <p:cNvSpPr>
            <a:spLocks noGrp="1"/>
          </p:cNvSpPr>
          <p:nvPr>
            <p:ph type="ctrTitle"/>
          </p:nvPr>
        </p:nvSpPr>
        <p:spPr>
          <a:xfrm>
            <a:off x="2735103" y="1299117"/>
            <a:ext cx="5981433" cy="2268559"/>
          </a:xfrm>
        </p:spPr>
        <p:txBody>
          <a:bodyPr>
            <a:normAutofit fontScale="90000"/>
          </a:bodyPr>
          <a:lstStyle/>
          <a:p>
            <a:pPr algn="l"/>
            <a:r>
              <a:rPr lang="en-IN" dirty="0"/>
              <a:t>Role of Vector Embeddings in Sentiment Analysis</a:t>
            </a:r>
          </a:p>
        </p:txBody>
      </p:sp>
      <p:sp>
        <p:nvSpPr>
          <p:cNvPr id="3" name="Subtitle 2">
            <a:extLst>
              <a:ext uri="{FF2B5EF4-FFF2-40B4-BE49-F238E27FC236}">
                <a16:creationId xmlns:a16="http://schemas.microsoft.com/office/drawing/2014/main" id="{39EAA9A1-9846-A094-9280-D55AF641148E}"/>
              </a:ext>
            </a:extLst>
          </p:cNvPr>
          <p:cNvSpPr>
            <a:spLocks noGrp="1"/>
          </p:cNvSpPr>
          <p:nvPr>
            <p:ph type="subTitle" idx="1"/>
          </p:nvPr>
        </p:nvSpPr>
        <p:spPr>
          <a:xfrm>
            <a:off x="2735103" y="4164493"/>
            <a:ext cx="5357600" cy="1779106"/>
          </a:xfrm>
        </p:spPr>
        <p:txBody>
          <a:bodyPr/>
          <a:lstStyle/>
          <a:p>
            <a:pPr algn="l">
              <a:lnSpc>
                <a:spcPct val="100000"/>
              </a:lnSpc>
            </a:pPr>
            <a:r>
              <a:rPr lang="en-IN" dirty="0"/>
              <a:t>Guide name: </a:t>
            </a:r>
            <a:r>
              <a:rPr lang="en-IN" dirty="0" err="1"/>
              <a:t>Dr.</a:t>
            </a:r>
            <a:r>
              <a:rPr lang="en-IN" dirty="0"/>
              <a:t> </a:t>
            </a:r>
            <a:r>
              <a:rPr lang="en-IN" dirty="0" err="1"/>
              <a:t>Johanan</a:t>
            </a:r>
            <a:r>
              <a:rPr lang="en-IN" dirty="0"/>
              <a:t> </a:t>
            </a:r>
            <a:r>
              <a:rPr lang="en-IN" dirty="0" err="1"/>
              <a:t>Joysingh</a:t>
            </a:r>
            <a:r>
              <a:rPr lang="en-IN" dirty="0"/>
              <a:t> S</a:t>
            </a:r>
          </a:p>
          <a:p>
            <a:pPr algn="l">
              <a:lnSpc>
                <a:spcPct val="100000"/>
              </a:lnSpc>
            </a:pPr>
            <a:r>
              <a:rPr lang="en-IN" dirty="0"/>
              <a:t>Team members:</a:t>
            </a:r>
          </a:p>
          <a:p>
            <a:pPr algn="l">
              <a:lnSpc>
                <a:spcPct val="100000"/>
              </a:lnSpc>
            </a:pPr>
            <a:r>
              <a:rPr lang="en-IN" dirty="0"/>
              <a:t>Anushka Pawan 21BAI1215</a:t>
            </a:r>
          </a:p>
          <a:p>
            <a:pPr algn="l">
              <a:lnSpc>
                <a:spcPct val="100000"/>
              </a:lnSpc>
            </a:pPr>
            <a:r>
              <a:rPr lang="en-IN" dirty="0"/>
              <a:t>Aryan Sinha 21BAI1215</a:t>
            </a:r>
          </a:p>
        </p:txBody>
      </p:sp>
    </p:spTree>
    <p:extLst>
      <p:ext uri="{BB962C8B-B14F-4D97-AF65-F5344CB8AC3E}">
        <p14:creationId xmlns:p14="http://schemas.microsoft.com/office/powerpoint/2010/main" val="2881318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EAFB2-1ACE-680B-DE32-C234715C38AA}"/>
              </a:ext>
            </a:extLst>
          </p:cNvPr>
          <p:cNvSpPr>
            <a:spLocks noGrp="1"/>
          </p:cNvSpPr>
          <p:nvPr>
            <p:ph type="title"/>
          </p:nvPr>
        </p:nvSpPr>
        <p:spPr>
          <a:xfrm>
            <a:off x="2611809" y="995422"/>
            <a:ext cx="7571678" cy="671685"/>
          </a:xfrm>
        </p:spPr>
        <p:txBody>
          <a:bodyPr>
            <a:noAutofit/>
          </a:bodyPr>
          <a:lstStyle/>
          <a:p>
            <a:pPr algn="l"/>
            <a:r>
              <a:rPr lang="en-IN" sz="3600" dirty="0"/>
              <a:t>INTRODUCTION</a:t>
            </a:r>
          </a:p>
        </p:txBody>
      </p:sp>
      <p:sp>
        <p:nvSpPr>
          <p:cNvPr id="3" name="Rectangle 2">
            <a:extLst>
              <a:ext uri="{FF2B5EF4-FFF2-40B4-BE49-F238E27FC236}">
                <a16:creationId xmlns:a16="http://schemas.microsoft.com/office/drawing/2014/main" id="{10CFEA87-A8E6-E8C7-1AFD-92E3667C742E}"/>
              </a:ext>
            </a:extLst>
          </p:cNvPr>
          <p:cNvSpPr/>
          <p:nvPr/>
        </p:nvSpPr>
        <p:spPr>
          <a:xfrm>
            <a:off x="2611809" y="1869664"/>
            <a:ext cx="7571679" cy="49883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pPr algn="just"/>
            <a:r>
              <a:rPr lang="en-US" b="1" dirty="0"/>
              <a:t>What is Sentiment Analysis?</a:t>
            </a:r>
            <a:endParaRPr lang="en-US" dirty="0"/>
          </a:p>
          <a:p>
            <a:pPr marL="285750" indent="-285750" algn="just">
              <a:buFont typeface="Arial" panose="020B0604020202020204" pitchFamily="34" charset="0"/>
              <a:buChar char="•"/>
            </a:pPr>
            <a:r>
              <a:rPr lang="en-US" dirty="0"/>
              <a:t>Sentiment analysis is a technique in Natural Language Processing (NLP) that identifies and categorizes opinions expressed in text to determine whether the sentiment is positive, negative, or neutral.</a:t>
            </a:r>
          </a:p>
          <a:p>
            <a:pPr algn="just"/>
            <a:endParaRPr lang="en-US" dirty="0"/>
          </a:p>
          <a:p>
            <a:pPr algn="just"/>
            <a:r>
              <a:rPr lang="en-US" b="1" dirty="0"/>
              <a:t>Importance of Sentiment Analysis</a:t>
            </a:r>
            <a:endParaRPr lang="en-US" dirty="0"/>
          </a:p>
          <a:p>
            <a:pPr marL="285750" indent="-285750" algn="just">
              <a:buFont typeface="Arial" panose="020B0604020202020204" pitchFamily="34" charset="0"/>
              <a:buChar char="•"/>
            </a:pPr>
            <a:r>
              <a:rPr lang="en-US" b="1" dirty="0"/>
              <a:t>Business Insights</a:t>
            </a:r>
            <a:r>
              <a:rPr lang="en-US" dirty="0"/>
              <a:t>: Helps companies understand customer feedback, brand perception, and product reviews.</a:t>
            </a:r>
          </a:p>
          <a:p>
            <a:pPr marL="285750" indent="-285750" algn="just">
              <a:buFont typeface="Arial" panose="020B0604020202020204" pitchFamily="34" charset="0"/>
              <a:buChar char="•"/>
            </a:pPr>
            <a:r>
              <a:rPr lang="en-US" b="1" dirty="0"/>
              <a:t>Social Media Monitoring</a:t>
            </a:r>
            <a:r>
              <a:rPr lang="en-US" dirty="0"/>
              <a:t>: Enables analysis of trends and public opinion on social media platforms.</a:t>
            </a:r>
          </a:p>
          <a:p>
            <a:pPr marL="285750" indent="-285750" algn="just">
              <a:buFont typeface="Arial" panose="020B0604020202020204" pitchFamily="34" charset="0"/>
              <a:buChar char="•"/>
            </a:pPr>
            <a:r>
              <a:rPr lang="en-US" b="1" dirty="0"/>
              <a:t>Customer Support</a:t>
            </a:r>
            <a:r>
              <a:rPr lang="en-US" dirty="0"/>
              <a:t>: Assists in automating responses and prioritizing support based on sentiment.</a:t>
            </a:r>
          </a:p>
          <a:p>
            <a:pPr algn="just"/>
            <a:endParaRPr lang="en-US" dirty="0"/>
          </a:p>
          <a:p>
            <a:pPr algn="just"/>
            <a:r>
              <a:rPr lang="en-US" b="1" dirty="0"/>
              <a:t>Applications of Sentiment Analysis</a:t>
            </a:r>
            <a:endParaRPr lang="en-US" dirty="0"/>
          </a:p>
          <a:p>
            <a:pPr marL="285750" indent="-285750" algn="just">
              <a:buFont typeface="Arial" panose="020B0604020202020204" pitchFamily="34" charset="0"/>
              <a:buChar char="•"/>
            </a:pPr>
            <a:r>
              <a:rPr lang="en-US" dirty="0"/>
              <a:t>Used across industries such as </a:t>
            </a:r>
            <a:r>
              <a:rPr lang="en-US" b="1" dirty="0"/>
              <a:t>e-commerce</a:t>
            </a:r>
            <a:r>
              <a:rPr lang="en-US" dirty="0"/>
              <a:t>, </a:t>
            </a:r>
            <a:r>
              <a:rPr lang="en-US" b="1" dirty="0"/>
              <a:t>finance</a:t>
            </a:r>
            <a:r>
              <a:rPr lang="en-US" dirty="0"/>
              <a:t>, </a:t>
            </a:r>
            <a:r>
              <a:rPr lang="en-US" b="1" dirty="0"/>
              <a:t>healthcare</a:t>
            </a:r>
            <a:r>
              <a:rPr lang="en-US" dirty="0"/>
              <a:t>, and </a:t>
            </a:r>
            <a:r>
              <a:rPr lang="en-US" b="1" dirty="0"/>
              <a:t>politics</a:t>
            </a:r>
            <a:r>
              <a:rPr lang="en-US" dirty="0"/>
              <a:t> to gauge public opinion and improve decision-making.</a:t>
            </a:r>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val="2327611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B5F18-C97D-A829-1053-318B3A5C9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FA595-D2D8-A1F8-D4C9-CFC03ABD34AB}"/>
              </a:ext>
            </a:extLst>
          </p:cNvPr>
          <p:cNvSpPr>
            <a:spLocks noGrp="1"/>
          </p:cNvSpPr>
          <p:nvPr>
            <p:ph type="title"/>
          </p:nvPr>
        </p:nvSpPr>
        <p:spPr>
          <a:xfrm>
            <a:off x="2611809" y="995422"/>
            <a:ext cx="7571678" cy="671685"/>
          </a:xfrm>
        </p:spPr>
        <p:txBody>
          <a:bodyPr>
            <a:noAutofit/>
          </a:bodyPr>
          <a:lstStyle/>
          <a:p>
            <a:pPr algn="l"/>
            <a:r>
              <a:rPr lang="en-IN" sz="3600" dirty="0"/>
              <a:t>Vector Embeddings in NLP</a:t>
            </a:r>
          </a:p>
        </p:txBody>
      </p:sp>
      <p:sp>
        <p:nvSpPr>
          <p:cNvPr id="3" name="Rectangle 2">
            <a:extLst>
              <a:ext uri="{FF2B5EF4-FFF2-40B4-BE49-F238E27FC236}">
                <a16:creationId xmlns:a16="http://schemas.microsoft.com/office/drawing/2014/main" id="{DAA18E2C-3E12-B0FD-729B-831E1B53DCE7}"/>
              </a:ext>
            </a:extLst>
          </p:cNvPr>
          <p:cNvSpPr/>
          <p:nvPr/>
        </p:nvSpPr>
        <p:spPr>
          <a:xfrm>
            <a:off x="2611809" y="1869664"/>
            <a:ext cx="7571679" cy="49883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US" b="1" dirty="0"/>
              <a:t>What are Vector Embeddings?</a:t>
            </a:r>
          </a:p>
          <a:p>
            <a:pPr marL="285750" indent="-285750">
              <a:buFont typeface="Arial" panose="020B0604020202020204" pitchFamily="34" charset="0"/>
              <a:buChar char="•"/>
            </a:pPr>
            <a:r>
              <a:rPr lang="en-US" dirty="0"/>
              <a:t>Vector embeddings are mathematical representations of words as high-dimensional vectors. They capture the semantic relationships between words based on their context in a text corpus.</a:t>
            </a:r>
          </a:p>
          <a:p>
            <a:endParaRPr lang="en-US" dirty="0"/>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 in Natural Language Processing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NLP methods struggled to understand context and nuances in language. Vector embeddings address this by encoding meaning and relationships between words.</a:t>
            </a:r>
          </a:p>
          <a:p>
            <a:pPr algn="just"/>
            <a:endParaRPr lang="en-US" dirty="0"/>
          </a:p>
          <a:p>
            <a:r>
              <a:rPr lang="en-US" b="1" dirty="0"/>
              <a:t>Role in Improving Sentiment Analysis Contextual Understanding</a:t>
            </a:r>
            <a:r>
              <a:rPr lang="en-US" dirty="0"/>
              <a:t>:</a:t>
            </a:r>
          </a:p>
          <a:p>
            <a:pPr marL="285750" indent="-285750">
              <a:buFont typeface="Arial" panose="020B0604020202020204" pitchFamily="34" charset="0"/>
              <a:buChar char="•"/>
            </a:pPr>
            <a:r>
              <a:rPr lang="en-US" dirty="0"/>
              <a:t>Embeddings like Word2Vec, </a:t>
            </a:r>
            <a:r>
              <a:rPr lang="en-US" dirty="0" err="1"/>
              <a:t>GloVe</a:t>
            </a:r>
            <a:r>
              <a:rPr lang="en-US" dirty="0"/>
              <a:t>, and </a:t>
            </a:r>
            <a:r>
              <a:rPr lang="en-US" dirty="0" err="1"/>
              <a:t>Fastext</a:t>
            </a:r>
            <a:r>
              <a:rPr lang="en-US" dirty="0"/>
              <a:t> capture deeper meanings of words, allowing the model to understand sentiment in a better way.</a:t>
            </a:r>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val="3062842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B33B-FD6E-782A-4695-A10B31596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A9253-4687-B4AE-96A2-C8B2322C4EFD}"/>
              </a:ext>
            </a:extLst>
          </p:cNvPr>
          <p:cNvSpPr>
            <a:spLocks noGrp="1"/>
          </p:cNvSpPr>
          <p:nvPr>
            <p:ph type="title"/>
          </p:nvPr>
        </p:nvSpPr>
        <p:spPr>
          <a:xfrm>
            <a:off x="2611809" y="995422"/>
            <a:ext cx="7571678" cy="671685"/>
          </a:xfrm>
        </p:spPr>
        <p:txBody>
          <a:bodyPr>
            <a:noAutofit/>
          </a:bodyPr>
          <a:lstStyle/>
          <a:p>
            <a:pPr algn="l"/>
            <a:r>
              <a:rPr lang="en-IN" sz="3600" dirty="0"/>
              <a:t>PROBLEM STATEMENT</a:t>
            </a:r>
          </a:p>
        </p:txBody>
      </p:sp>
      <p:sp>
        <p:nvSpPr>
          <p:cNvPr id="3" name="Rectangle 2">
            <a:extLst>
              <a:ext uri="{FF2B5EF4-FFF2-40B4-BE49-F238E27FC236}">
                <a16:creationId xmlns:a16="http://schemas.microsoft.com/office/drawing/2014/main" id="{80C3633D-5972-A17A-6531-044FF9F65384}"/>
              </a:ext>
            </a:extLst>
          </p:cNvPr>
          <p:cNvSpPr/>
          <p:nvPr/>
        </p:nvSpPr>
        <p:spPr>
          <a:xfrm>
            <a:off x="2611809" y="1869664"/>
            <a:ext cx="7571679" cy="26328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0" i="0" dirty="0">
                <a:effectLst/>
                <a:latin typeface="__fkGroteskNeue_598ab8"/>
              </a:rPr>
              <a:t>Traditional sentiment analysis models frequently encounter challenges in accurately capturing context and nuance, which can lead to inaccurate classifications. This research aims to evaluate the effectiveness of various vector embeddings in enhancing the accuracy of sentiment analysis.</a:t>
            </a:r>
            <a:endParaRPr lang="en-IN" dirty="0"/>
          </a:p>
        </p:txBody>
      </p:sp>
    </p:spTree>
    <p:extLst>
      <p:ext uri="{BB962C8B-B14F-4D97-AF65-F5344CB8AC3E}">
        <p14:creationId xmlns:p14="http://schemas.microsoft.com/office/powerpoint/2010/main" val="1884831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A1BD2-B8FB-4300-8166-B58F46982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6BB12-42E8-A252-B961-B1442524D891}"/>
              </a:ext>
            </a:extLst>
          </p:cNvPr>
          <p:cNvSpPr>
            <a:spLocks noGrp="1"/>
          </p:cNvSpPr>
          <p:nvPr>
            <p:ph type="title"/>
          </p:nvPr>
        </p:nvSpPr>
        <p:spPr>
          <a:xfrm>
            <a:off x="2611809" y="995422"/>
            <a:ext cx="7571678" cy="671685"/>
          </a:xfrm>
        </p:spPr>
        <p:txBody>
          <a:bodyPr>
            <a:noAutofit/>
          </a:bodyPr>
          <a:lstStyle/>
          <a:p>
            <a:pPr algn="l"/>
            <a:r>
              <a:rPr lang="en-IN" sz="3600" dirty="0"/>
              <a:t>Research Objective</a:t>
            </a:r>
          </a:p>
        </p:txBody>
      </p:sp>
      <p:sp>
        <p:nvSpPr>
          <p:cNvPr id="3" name="Rectangle 2">
            <a:extLst>
              <a:ext uri="{FF2B5EF4-FFF2-40B4-BE49-F238E27FC236}">
                <a16:creationId xmlns:a16="http://schemas.microsoft.com/office/drawing/2014/main" id="{7F521B94-2E18-F95B-E36A-F93213AA1D2B}"/>
              </a:ext>
            </a:extLst>
          </p:cNvPr>
          <p:cNvSpPr/>
          <p:nvPr/>
        </p:nvSpPr>
        <p:spPr>
          <a:xfrm>
            <a:off x="2611809" y="2071868"/>
            <a:ext cx="7571679" cy="47861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US" b="1" dirty="0"/>
              <a:t>The objectives of this research are:</a:t>
            </a:r>
          </a:p>
          <a:p>
            <a:endParaRPr lang="en-US" b="1" dirty="0"/>
          </a:p>
          <a:p>
            <a:pPr marL="285750" indent="-285750">
              <a:buFont typeface="Arial" panose="020B0604020202020204" pitchFamily="34" charset="0"/>
              <a:buChar char="•"/>
            </a:pPr>
            <a:r>
              <a:rPr lang="en-US" dirty="0"/>
              <a:t>Exploring the impact of vector embeddings on sentiment analysis accuracy.</a:t>
            </a:r>
          </a:p>
          <a:p>
            <a:endParaRPr lang="en-US" dirty="0"/>
          </a:p>
          <a:p>
            <a:pPr marL="285750" indent="-285750">
              <a:buFont typeface="Arial" panose="020B0604020202020204" pitchFamily="34" charset="0"/>
              <a:buChar char="•"/>
            </a:pPr>
            <a:r>
              <a:rPr lang="en-US" dirty="0"/>
              <a:t>Comparing different types of embeddings (e.g., Word2Vec, </a:t>
            </a:r>
            <a:r>
              <a:rPr lang="en-US" dirty="0" err="1"/>
              <a:t>GloVe</a:t>
            </a:r>
            <a:r>
              <a:rPr lang="en-US" dirty="0"/>
              <a:t>, </a:t>
            </a:r>
            <a:r>
              <a:rPr lang="en-US" dirty="0" err="1"/>
              <a:t>fasttext</a:t>
            </a:r>
            <a:r>
              <a:rPr lang="en-US" dirty="0"/>
              <a:t>) for sentiment analysis.</a:t>
            </a:r>
          </a:p>
          <a:p>
            <a:endParaRPr lang="en-US" dirty="0"/>
          </a:p>
          <a:p>
            <a:pPr marL="285750" indent="-285750">
              <a:buFont typeface="Arial" panose="020B0604020202020204" pitchFamily="34" charset="0"/>
              <a:buChar char="•"/>
            </a:pPr>
            <a:r>
              <a:rPr lang="en-US" dirty="0"/>
              <a:t>Evaluating improvements in sentiment classification with Sentiment Enhanced Word Embeddings.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Comparing the results from different embeddings on Marathi Language movie review database</a:t>
            </a:r>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val="313772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9A46E-5994-DD12-7421-B06DD4918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2D574-2193-5E9B-5A85-A748D65D1DB3}"/>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1410AC01-FBDD-B5F2-3C30-5AD012750A46}"/>
              </a:ext>
            </a:extLst>
          </p:cNvPr>
          <p:cNvSpPr/>
          <p:nvPr/>
        </p:nvSpPr>
        <p:spPr>
          <a:xfrm>
            <a:off x="2611809" y="2071869"/>
            <a:ext cx="7571679" cy="3094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IN" b="1" dirty="0"/>
              <a:t>Proposed System Introduction</a:t>
            </a:r>
          </a:p>
          <a:p>
            <a:pPr algn="just"/>
            <a:endParaRPr lang="en-US" dirty="0"/>
          </a:p>
          <a:p>
            <a:pPr marL="285750" indent="-285750" algn="just">
              <a:buFont typeface="Arial" panose="020B0604020202020204" pitchFamily="34" charset="0"/>
              <a:buChar char="•"/>
            </a:pPr>
            <a:r>
              <a:rPr lang="en-US" dirty="0"/>
              <a:t>The proposed system aims to enhance sentiment analysis performance by leveraging vector embeddings—Word2Vec, </a:t>
            </a:r>
            <a:r>
              <a:rPr lang="en-US" dirty="0" err="1"/>
              <a:t>GloVe</a:t>
            </a:r>
            <a:r>
              <a:rPr lang="en-US" dirty="0"/>
              <a:t>, and </a:t>
            </a:r>
            <a:r>
              <a:rPr lang="en-US" dirty="0" err="1"/>
              <a:t>FastText</a:t>
            </a:r>
            <a:r>
              <a:rPr lang="en-US" dirty="0"/>
              <a:t>. These embeddings capture word semantics and contextual relationships, improving sentiment classification accuracy compared to traditional models. The system will preprocess the text data, generate word embeddings, train a sentiment classifier using LSTM, and evaluate the model using various performance metrics.</a:t>
            </a:r>
            <a:endParaRPr lang="en-IN" dirty="0"/>
          </a:p>
        </p:txBody>
      </p:sp>
    </p:spTree>
    <p:extLst>
      <p:ext uri="{BB962C8B-B14F-4D97-AF65-F5344CB8AC3E}">
        <p14:creationId xmlns:p14="http://schemas.microsoft.com/office/powerpoint/2010/main" val="455782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762A0-3338-12F3-D594-283C5E09D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A593D-FA7D-1F55-4C09-6B7EA9C644EE}"/>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7F13EE68-5D0F-86FF-DF7C-41FBCFBAC30F}"/>
              </a:ext>
            </a:extLst>
          </p:cNvPr>
          <p:cNvSpPr/>
          <p:nvPr/>
        </p:nvSpPr>
        <p:spPr>
          <a:xfrm>
            <a:off x="2611809" y="2071870"/>
            <a:ext cx="7571679" cy="5903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IN" b="1" dirty="0"/>
              <a:t>Proposed System diagram</a:t>
            </a:r>
          </a:p>
          <a:p>
            <a:pPr algn="just"/>
            <a:endParaRPr lang="en-US" dirty="0"/>
          </a:p>
        </p:txBody>
      </p:sp>
      <p:sp>
        <p:nvSpPr>
          <p:cNvPr id="4" name="Rectangle 3">
            <a:extLst>
              <a:ext uri="{FF2B5EF4-FFF2-40B4-BE49-F238E27FC236}">
                <a16:creationId xmlns:a16="http://schemas.microsoft.com/office/drawing/2014/main" id="{02C633DA-B802-13D4-7017-13F521DB2CDE}"/>
              </a:ext>
            </a:extLst>
          </p:cNvPr>
          <p:cNvSpPr/>
          <p:nvPr/>
        </p:nvSpPr>
        <p:spPr>
          <a:xfrm>
            <a:off x="2611809" y="2939970"/>
            <a:ext cx="7571678" cy="3252486"/>
          </a:xfrm>
          <a:prstGeom prst="rect">
            <a:avLst/>
          </a:prstGeom>
          <a:solidFill>
            <a:schemeClr val="tx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a:extLst>
              <a:ext uri="{FF2B5EF4-FFF2-40B4-BE49-F238E27FC236}">
                <a16:creationId xmlns:a16="http://schemas.microsoft.com/office/drawing/2014/main" id="{C49A1BAE-F6CA-3E41-F2B6-6A910E306545}"/>
              </a:ext>
            </a:extLst>
          </p:cNvPr>
          <p:cNvPicPr>
            <a:picLocks noChangeAspect="1"/>
          </p:cNvPicPr>
          <p:nvPr/>
        </p:nvPicPr>
        <p:blipFill>
          <a:blip r:embed="rId2"/>
          <a:stretch>
            <a:fillRect/>
          </a:stretch>
        </p:blipFill>
        <p:spPr>
          <a:xfrm>
            <a:off x="2765075" y="3047776"/>
            <a:ext cx="7265146" cy="3036874"/>
          </a:xfrm>
          <a:prstGeom prst="rect">
            <a:avLst/>
          </a:prstGeom>
        </p:spPr>
      </p:pic>
    </p:spTree>
    <p:extLst>
      <p:ext uri="{BB962C8B-B14F-4D97-AF65-F5344CB8AC3E}">
        <p14:creationId xmlns:p14="http://schemas.microsoft.com/office/powerpoint/2010/main" val="126454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7D3B-E50F-98C2-B59D-E87FBDE47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564DB-7FD9-A82A-F6F2-ABAF8D74A15C}"/>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9906F3C9-E6A8-6518-4D56-40A527B5018F}"/>
              </a:ext>
            </a:extLst>
          </p:cNvPr>
          <p:cNvSpPr/>
          <p:nvPr/>
        </p:nvSpPr>
        <p:spPr>
          <a:xfrm>
            <a:off x="2611808" y="2228176"/>
            <a:ext cx="7571679" cy="33219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IN" b="1" dirty="0"/>
              <a:t>List of Modules</a:t>
            </a:r>
          </a:p>
          <a:p>
            <a:pPr algn="just"/>
            <a:endParaRPr lang="en-US" dirty="0"/>
          </a:p>
          <a:p>
            <a:pPr marL="285750" indent="-285750">
              <a:buFont typeface="Arial" panose="020B0604020202020204" pitchFamily="34" charset="0"/>
              <a:buChar char="•"/>
            </a:pPr>
            <a:r>
              <a:rPr lang="en-US" dirty="0"/>
              <a:t>Data Preprocessing</a:t>
            </a:r>
          </a:p>
          <a:p>
            <a:endParaRPr lang="en-US" dirty="0"/>
          </a:p>
          <a:p>
            <a:pPr marL="285750" indent="-285750">
              <a:buFont typeface="Arial" panose="020B0604020202020204" pitchFamily="34" charset="0"/>
              <a:buChar char="•"/>
            </a:pPr>
            <a:r>
              <a:rPr lang="en-US" dirty="0"/>
              <a:t>Embedding Generation (</a:t>
            </a:r>
            <a:r>
              <a:rPr lang="en-US" b="0" i="0" dirty="0">
                <a:effectLst/>
                <a:latin typeface="__fkGroteskNeue_598ab8"/>
              </a:rPr>
              <a:t>Word2Vec, </a:t>
            </a:r>
            <a:r>
              <a:rPr lang="en-US" b="0" i="0" dirty="0" err="1">
                <a:effectLst/>
                <a:latin typeface="__fkGroteskNeue_598ab8"/>
              </a:rPr>
              <a:t>GloVe</a:t>
            </a:r>
            <a:r>
              <a:rPr lang="en-US" b="0" i="0" dirty="0">
                <a:effectLst/>
                <a:latin typeface="__fkGroteskNeue_598ab8"/>
              </a:rPr>
              <a:t>, </a:t>
            </a:r>
            <a:r>
              <a:rPr lang="en-US" b="0" i="0" dirty="0" err="1">
                <a:effectLst/>
                <a:latin typeface="__fkGroteskNeue_598ab8"/>
              </a:rPr>
              <a:t>FastText</a:t>
            </a:r>
            <a:r>
              <a:rPr lang="en-US" b="0" i="0" dirty="0">
                <a:effectLst/>
                <a:latin typeface="__fkGroteskNeue_598ab8"/>
              </a:rPr>
              <a:t>)</a:t>
            </a:r>
            <a:endParaRPr lang="en-US" dirty="0"/>
          </a:p>
          <a:p>
            <a:endParaRPr lang="en-US" dirty="0"/>
          </a:p>
          <a:p>
            <a:pPr marL="285750" indent="-285750">
              <a:buFont typeface="Arial" panose="020B0604020202020204" pitchFamily="34" charset="0"/>
              <a:buChar char="•"/>
            </a:pPr>
            <a:r>
              <a:rPr lang="en-US" dirty="0"/>
              <a:t>Sentiment-Enhanced Embeddings</a:t>
            </a:r>
          </a:p>
          <a:p>
            <a:endParaRPr lang="en-US" dirty="0"/>
          </a:p>
          <a:p>
            <a:pPr marL="285750" indent="-285750">
              <a:buFont typeface="Arial" panose="020B0604020202020204" pitchFamily="34" charset="0"/>
              <a:buChar char="•"/>
            </a:pPr>
            <a:r>
              <a:rPr lang="en-US" dirty="0"/>
              <a:t>Sentiment Classifier (LSTM)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Evaluation (</a:t>
            </a:r>
            <a:r>
              <a:rPr lang="en-US" b="0" i="0" dirty="0">
                <a:effectLst/>
                <a:latin typeface="__fkGroteskNeue_598ab8"/>
              </a:rPr>
              <a:t>accuracy, precision, recall, and F1-score.</a:t>
            </a:r>
            <a:r>
              <a:rPr lang="en-IN" dirty="0"/>
              <a:t>)</a:t>
            </a:r>
          </a:p>
        </p:txBody>
      </p:sp>
    </p:spTree>
    <p:extLst>
      <p:ext uri="{BB962C8B-B14F-4D97-AF65-F5344CB8AC3E}">
        <p14:creationId xmlns:p14="http://schemas.microsoft.com/office/powerpoint/2010/main" val="2428418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30E0-A68E-5456-9B64-5EB7DE066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1C44C-2E39-47E4-7F8B-0428EED96325}"/>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909F7CDF-1DC2-CC3E-0357-065186F773BC}"/>
              </a:ext>
            </a:extLst>
          </p:cNvPr>
          <p:cNvSpPr/>
          <p:nvPr/>
        </p:nvSpPr>
        <p:spPr>
          <a:xfrm>
            <a:off x="2611808" y="2407931"/>
            <a:ext cx="7571679" cy="26173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IN" b="1" dirty="0"/>
              <a:t>Data Preprocessing</a:t>
            </a:r>
          </a:p>
          <a:p>
            <a:pPr algn="just"/>
            <a:endParaRPr lang="en-US" dirty="0"/>
          </a:p>
          <a:p>
            <a:pPr marL="285750" indent="-285750">
              <a:lnSpc>
                <a:spcPct val="150000"/>
              </a:lnSpc>
              <a:buFont typeface="Arial" panose="020B0604020202020204" pitchFamily="34" charset="0"/>
              <a:buChar char="•"/>
            </a:pPr>
            <a:r>
              <a:rPr lang="en-US" sz="1400" dirty="0"/>
              <a:t>Data Cleaning and Normalization: Remove unwanted symbols, punctuation, and numbers. Convert text to lowercase and expand contractions.</a:t>
            </a:r>
          </a:p>
          <a:p>
            <a:pPr marL="285750" indent="-285750">
              <a:lnSpc>
                <a:spcPct val="150000"/>
              </a:lnSpc>
              <a:buFont typeface="Arial" panose="020B0604020202020204" pitchFamily="34" charset="0"/>
              <a:buChar char="•"/>
            </a:pPr>
            <a:r>
              <a:rPr lang="en-US" sz="1400" dirty="0"/>
              <a:t>Tokenization and Stop-word Removal: Split text into tokens and eliminate common stop-words.</a:t>
            </a:r>
          </a:p>
          <a:p>
            <a:pPr marL="285750" indent="-285750">
              <a:lnSpc>
                <a:spcPct val="150000"/>
              </a:lnSpc>
              <a:buFont typeface="Arial" panose="020B0604020202020204" pitchFamily="34" charset="0"/>
              <a:buChar char="•"/>
            </a:pPr>
            <a:r>
              <a:rPr lang="en-US" sz="1400" dirty="0"/>
              <a:t>Stemming/ Lemmatization: Reduce words to their base or root forms for consistency.</a:t>
            </a:r>
          </a:p>
          <a:p>
            <a:pPr marL="285750" indent="-285750">
              <a:lnSpc>
                <a:spcPct val="150000"/>
              </a:lnSpc>
              <a:buFont typeface="Arial" panose="020B0604020202020204" pitchFamily="34" charset="0"/>
              <a:buChar char="•"/>
            </a:pPr>
            <a:r>
              <a:rPr lang="en-US" sz="1400" dirty="0"/>
              <a:t>Vectorization and Sequence Preparation: </a:t>
            </a:r>
          </a:p>
          <a:p>
            <a:pPr marL="857250" lvl="1" indent="-400050">
              <a:lnSpc>
                <a:spcPct val="150000"/>
              </a:lnSpc>
              <a:buFont typeface="+mj-lt"/>
              <a:buAutoNum type="romanLcPeriod"/>
            </a:pPr>
            <a:r>
              <a:rPr lang="en-US" sz="1400" dirty="0"/>
              <a:t>Convert text into numerical representations using embeddings (e.g., Word2Vec, </a:t>
            </a:r>
            <a:r>
              <a:rPr lang="en-US" sz="1400" dirty="0" err="1"/>
              <a:t>FastText</a:t>
            </a:r>
            <a:r>
              <a:rPr lang="en-US" sz="1400" dirty="0"/>
              <a:t>, </a:t>
            </a:r>
            <a:r>
              <a:rPr lang="en-US" sz="1400" dirty="0" err="1"/>
              <a:t>GloVe</a:t>
            </a:r>
            <a:r>
              <a:rPr lang="en-US" sz="1400" dirty="0"/>
              <a:t>).</a:t>
            </a:r>
          </a:p>
          <a:p>
            <a:pPr marL="857250" lvl="1" indent="-400050">
              <a:lnSpc>
                <a:spcPct val="150000"/>
              </a:lnSpc>
              <a:buFont typeface="+mj-lt"/>
              <a:buAutoNum type="romanLcPeriod"/>
            </a:pPr>
            <a:r>
              <a:rPr lang="en-US" sz="1400" dirty="0"/>
              <a:t>Pad or truncate sequences to a fixed length.</a:t>
            </a:r>
          </a:p>
          <a:p>
            <a:pPr marL="285750" indent="-285750">
              <a:lnSpc>
                <a:spcPct val="150000"/>
              </a:lnSpc>
              <a:buFont typeface="Arial" panose="020B0604020202020204" pitchFamily="34" charset="0"/>
              <a:buChar char="•"/>
            </a:pPr>
            <a:r>
              <a:rPr lang="en-US" sz="1400" dirty="0"/>
              <a:t>Data Splitting and Class Balancing: Split the data into training, validation, and test sets.</a:t>
            </a:r>
            <a:endParaRPr lang="en-IN" sz="1400" dirty="0"/>
          </a:p>
        </p:txBody>
      </p:sp>
    </p:spTree>
    <p:extLst>
      <p:ext uri="{BB962C8B-B14F-4D97-AF65-F5344CB8AC3E}">
        <p14:creationId xmlns:p14="http://schemas.microsoft.com/office/powerpoint/2010/main" val="1125405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F4EC-0FCB-31CA-BB09-27B31AFB5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B719E-A88C-4AF9-1DAE-B9DBA917DCF9}"/>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862A1ABC-609C-C096-5249-639245C6B631}"/>
              </a:ext>
            </a:extLst>
          </p:cNvPr>
          <p:cNvSpPr/>
          <p:nvPr/>
        </p:nvSpPr>
        <p:spPr>
          <a:xfrm>
            <a:off x="2611809" y="2462163"/>
            <a:ext cx="7571679" cy="22686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US" b="1" dirty="0"/>
              <a:t>Embedding Generation</a:t>
            </a:r>
          </a:p>
          <a:p>
            <a:endParaRPr lang="en-US" b="1" dirty="0"/>
          </a:p>
          <a:p>
            <a:pPr marL="285750" indent="-285750">
              <a:lnSpc>
                <a:spcPct val="150000"/>
              </a:lnSpc>
              <a:buFont typeface="Arial" panose="020B0604020202020204" pitchFamily="34" charset="0"/>
              <a:buChar char="•"/>
            </a:pPr>
            <a:r>
              <a:rPr lang="en-US" sz="1600" dirty="0"/>
              <a:t>Word2Vec: A neural network-based embedding model that learns word representations by predicting context words (Skip-gram) or surrounding words (CBOW) in a corpus.</a:t>
            </a:r>
          </a:p>
          <a:p>
            <a:pPr marL="285750" indent="-285750">
              <a:lnSpc>
                <a:spcPct val="150000"/>
              </a:lnSpc>
              <a:buFont typeface="Arial" panose="020B0604020202020204" pitchFamily="34" charset="0"/>
              <a:buChar char="•"/>
            </a:pPr>
            <a:r>
              <a:rPr lang="en-US" sz="1600" dirty="0" err="1"/>
              <a:t>GloVe</a:t>
            </a:r>
            <a:r>
              <a:rPr lang="en-US" sz="1600" dirty="0"/>
              <a:t> (Global Vectors for Word Representation): A matrix factorization-based model that captures global statistical information about word co-occurrences in a corpus to create word embeddings.</a:t>
            </a:r>
          </a:p>
          <a:p>
            <a:pPr marL="285750" indent="-285750">
              <a:lnSpc>
                <a:spcPct val="150000"/>
              </a:lnSpc>
              <a:buFont typeface="Arial" panose="020B0604020202020204" pitchFamily="34" charset="0"/>
              <a:buChar char="•"/>
            </a:pPr>
            <a:r>
              <a:rPr lang="en-US" sz="1600" dirty="0" err="1"/>
              <a:t>FastText</a:t>
            </a:r>
            <a:r>
              <a:rPr lang="en-US" sz="1600" dirty="0"/>
              <a:t>: An extension of Word2Vec that represents words as </a:t>
            </a:r>
            <a:r>
              <a:rPr lang="en-US" sz="1600" dirty="0" err="1"/>
              <a:t>subword</a:t>
            </a:r>
            <a:r>
              <a:rPr lang="en-US" sz="1600" dirty="0"/>
              <a:t> character n-grams, enabling it to handle rare and misspelled words better.</a:t>
            </a:r>
            <a:endParaRPr lang="en-IN" sz="1600" dirty="0"/>
          </a:p>
        </p:txBody>
      </p:sp>
    </p:spTree>
    <p:extLst>
      <p:ext uri="{BB962C8B-B14F-4D97-AF65-F5344CB8AC3E}">
        <p14:creationId xmlns:p14="http://schemas.microsoft.com/office/powerpoint/2010/main" val="606935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70301-4578-B827-E633-8B9B261D5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D5A6F-0BC6-6F75-D988-530BE19FE7BE}"/>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4C297A29-74B8-5DE8-A97F-F6DD6E785989}"/>
              </a:ext>
            </a:extLst>
          </p:cNvPr>
          <p:cNvSpPr/>
          <p:nvPr/>
        </p:nvSpPr>
        <p:spPr>
          <a:xfrm>
            <a:off x="2611807" y="2556101"/>
            <a:ext cx="7571679" cy="17457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US" b="1" dirty="0"/>
              <a:t>Sentiment-Enhanced Embeddings</a:t>
            </a:r>
          </a:p>
          <a:p>
            <a:endParaRPr lang="en-US" b="1" dirty="0"/>
          </a:p>
          <a:p>
            <a:pPr marL="285750" indent="-285750">
              <a:lnSpc>
                <a:spcPct val="150000"/>
              </a:lnSpc>
              <a:buFont typeface="Arial" panose="020B0604020202020204" pitchFamily="34" charset="0"/>
              <a:buChar char="•"/>
            </a:pPr>
            <a:r>
              <a:rPr lang="en-US" sz="1400" dirty="0"/>
              <a:t>Embedding Layer: A trainable embedding layer learns sentiment-specific word representations (dimension 128) directly from the data during training.</a:t>
            </a:r>
          </a:p>
        </p:txBody>
      </p:sp>
    </p:spTree>
    <p:extLst>
      <p:ext uri="{BB962C8B-B14F-4D97-AF65-F5344CB8AC3E}">
        <p14:creationId xmlns:p14="http://schemas.microsoft.com/office/powerpoint/2010/main" val="708274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CBB0B-F568-8D16-DAC7-B01B5E65B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A7932-C55F-CBF1-C7A3-8AB9652F9D0B}"/>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034E9061-B03E-0784-224E-D8CD4115C4E5}"/>
              </a:ext>
            </a:extLst>
          </p:cNvPr>
          <p:cNvSpPr/>
          <p:nvPr/>
        </p:nvSpPr>
        <p:spPr>
          <a:xfrm>
            <a:off x="2611810" y="2071869"/>
            <a:ext cx="7571678" cy="35708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a:p>
            <a:r>
              <a:rPr lang="en-US" b="1" dirty="0"/>
              <a:t>Sentiment Classifier</a:t>
            </a:r>
          </a:p>
          <a:p>
            <a:endParaRPr lang="en-US" b="1" dirty="0"/>
          </a:p>
          <a:p>
            <a:pPr marL="285750" indent="-285750">
              <a:lnSpc>
                <a:spcPct val="150000"/>
              </a:lnSpc>
              <a:buFont typeface="Arial" panose="020B0604020202020204" pitchFamily="34" charset="0"/>
              <a:buChar char="•"/>
            </a:pPr>
            <a:r>
              <a:rPr lang="en-US" sz="1400" dirty="0"/>
              <a:t>LSTM Layer: Captures sequential dependencies in text, preserving context and long-term relationships across words.</a:t>
            </a:r>
          </a:p>
          <a:p>
            <a:pPr marL="285750" indent="-285750">
              <a:lnSpc>
                <a:spcPct val="150000"/>
              </a:lnSpc>
              <a:buFont typeface="Arial" panose="020B0604020202020204" pitchFamily="34" charset="0"/>
              <a:buChar char="•"/>
            </a:pPr>
            <a:r>
              <a:rPr lang="en-US" sz="1400" dirty="0"/>
              <a:t>GlobalMaxPooling1D: Reduces the output of the LSTM layer to a fixed-size vector by taking the maximum value across the sequence, focusing on the most important features.</a:t>
            </a:r>
          </a:p>
          <a:p>
            <a:pPr marL="285750" indent="-285750">
              <a:lnSpc>
                <a:spcPct val="150000"/>
              </a:lnSpc>
              <a:buFont typeface="Arial" panose="020B0604020202020204" pitchFamily="34" charset="0"/>
              <a:buChar char="•"/>
            </a:pPr>
            <a:r>
              <a:rPr lang="en-US" sz="1400" dirty="0"/>
              <a:t>Dropout and Dense Layers: Dropout prevents overfitting, while Dense layers refine and classify the features into binary sentiment labels using sigmoid activation.</a:t>
            </a:r>
          </a:p>
          <a:p>
            <a:pPr marL="285750" indent="-285750">
              <a:lnSpc>
                <a:spcPct val="150000"/>
              </a:lnSpc>
              <a:buFont typeface="Arial" panose="020B0604020202020204" pitchFamily="34" charset="0"/>
              <a:buChar char="•"/>
            </a:pPr>
            <a:r>
              <a:rPr lang="en-US" sz="1400" dirty="0"/>
              <a:t>Compilation: The model is optimized with Adam and uses binary cross-entropy loss for classification, with accuracy as the metric to monitor.</a:t>
            </a:r>
            <a:endParaRPr lang="en-IN" sz="1400" dirty="0"/>
          </a:p>
        </p:txBody>
      </p:sp>
    </p:spTree>
    <p:extLst>
      <p:ext uri="{BB962C8B-B14F-4D97-AF65-F5344CB8AC3E}">
        <p14:creationId xmlns:p14="http://schemas.microsoft.com/office/powerpoint/2010/main" val="3665791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7B9D8-618A-D6B3-9682-0C5E69C8D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33313-B9F3-3276-E60C-0EBAA55DCA3A}"/>
              </a:ext>
            </a:extLst>
          </p:cNvPr>
          <p:cNvSpPr>
            <a:spLocks noGrp="1"/>
          </p:cNvSpPr>
          <p:nvPr>
            <p:ph type="title"/>
          </p:nvPr>
        </p:nvSpPr>
        <p:spPr>
          <a:xfrm>
            <a:off x="2611809" y="995422"/>
            <a:ext cx="7571678" cy="671685"/>
          </a:xfrm>
        </p:spPr>
        <p:txBody>
          <a:bodyPr>
            <a:noAutofit/>
          </a:bodyPr>
          <a:lstStyle/>
          <a:p>
            <a:pPr algn="l"/>
            <a:r>
              <a:rPr lang="en-IN" sz="3600" dirty="0"/>
              <a:t>PROPOSED SYSTEM</a:t>
            </a:r>
          </a:p>
        </p:txBody>
      </p:sp>
      <p:sp>
        <p:nvSpPr>
          <p:cNvPr id="3" name="Rectangle 2">
            <a:extLst>
              <a:ext uri="{FF2B5EF4-FFF2-40B4-BE49-F238E27FC236}">
                <a16:creationId xmlns:a16="http://schemas.microsoft.com/office/drawing/2014/main" id="{342DA276-7F6A-3417-1382-F8A120E376D7}"/>
              </a:ext>
            </a:extLst>
          </p:cNvPr>
          <p:cNvSpPr/>
          <p:nvPr/>
        </p:nvSpPr>
        <p:spPr>
          <a:xfrm>
            <a:off x="2611809" y="2071869"/>
            <a:ext cx="7571679" cy="29299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t>Evaluation</a:t>
            </a:r>
          </a:p>
          <a:p>
            <a:pPr algn="just"/>
            <a:endParaRPr lang="en-US" b="1" dirty="0"/>
          </a:p>
          <a:p>
            <a:pPr marL="285750" indent="-285750" algn="just">
              <a:buFont typeface="Arial" panose="020B0604020202020204" pitchFamily="34" charset="0"/>
              <a:buChar char="•"/>
            </a:pPr>
            <a:r>
              <a:rPr lang="en-US" sz="1600" dirty="0"/>
              <a:t>Accuracy : general idea of performance but can be misleading in imbalanced datasets.</a:t>
            </a:r>
          </a:p>
          <a:p>
            <a:pPr marL="285750" indent="-285750" algn="just">
              <a:buFont typeface="Arial" panose="020B0604020202020204" pitchFamily="34" charset="0"/>
              <a:buChar char="•"/>
            </a:pPr>
            <a:r>
              <a:rPr lang="en-US" sz="1600" dirty="0"/>
              <a:t>Precision focuses on the quality of positive predictions.</a:t>
            </a:r>
          </a:p>
          <a:p>
            <a:pPr marL="285750" indent="-285750" algn="just">
              <a:buFont typeface="Arial" panose="020B0604020202020204" pitchFamily="34" charset="0"/>
              <a:buChar char="•"/>
            </a:pPr>
            <a:r>
              <a:rPr lang="en-US" sz="1600" dirty="0"/>
              <a:t>Recall emphasizes capturing as many positives as possible.</a:t>
            </a:r>
          </a:p>
          <a:p>
            <a:pPr marL="285750" indent="-285750" algn="just">
              <a:buFont typeface="Arial" panose="020B0604020202020204" pitchFamily="34" charset="0"/>
              <a:buChar char="•"/>
            </a:pPr>
            <a:r>
              <a:rPr lang="en-US" sz="1600" dirty="0"/>
              <a:t>F1-score provides a balanced measure that considers both precision and recall, making it suitable for various applications where class distribution is uneven.</a:t>
            </a:r>
            <a:endParaRPr lang="en-IN" sz="1600" dirty="0"/>
          </a:p>
        </p:txBody>
      </p:sp>
    </p:spTree>
    <p:extLst>
      <p:ext uri="{BB962C8B-B14F-4D97-AF65-F5344CB8AC3E}">
        <p14:creationId xmlns:p14="http://schemas.microsoft.com/office/powerpoint/2010/main" val="2772347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F7134-F71B-84B6-8114-CD2D60AC6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E6DC2-A8CC-A75F-5328-A502235D7A6A}"/>
              </a:ext>
            </a:extLst>
          </p:cNvPr>
          <p:cNvSpPr>
            <a:spLocks noGrp="1"/>
          </p:cNvSpPr>
          <p:nvPr>
            <p:ph type="title"/>
          </p:nvPr>
        </p:nvSpPr>
        <p:spPr>
          <a:xfrm>
            <a:off x="2611809" y="995422"/>
            <a:ext cx="7571678" cy="671685"/>
          </a:xfrm>
        </p:spPr>
        <p:txBody>
          <a:bodyPr>
            <a:noAutofit/>
          </a:bodyPr>
          <a:lstStyle/>
          <a:p>
            <a:pPr algn="l"/>
            <a:r>
              <a:rPr lang="en-IN" sz="3600" dirty="0"/>
              <a:t>IMPLEMENTATION AND RESULTS</a:t>
            </a:r>
          </a:p>
        </p:txBody>
      </p:sp>
      <p:sp>
        <p:nvSpPr>
          <p:cNvPr id="3" name="Rectangle 2">
            <a:extLst>
              <a:ext uri="{FF2B5EF4-FFF2-40B4-BE49-F238E27FC236}">
                <a16:creationId xmlns:a16="http://schemas.microsoft.com/office/drawing/2014/main" id="{13C40731-CAF2-49BD-7729-1F84516F5122}"/>
              </a:ext>
            </a:extLst>
          </p:cNvPr>
          <p:cNvSpPr/>
          <p:nvPr/>
        </p:nvSpPr>
        <p:spPr>
          <a:xfrm>
            <a:off x="2611809" y="2071869"/>
            <a:ext cx="7571679" cy="41784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dirty="0"/>
          </a:p>
        </p:txBody>
      </p:sp>
      <p:pic>
        <p:nvPicPr>
          <p:cNvPr id="5" name="Picture 4">
            <a:extLst>
              <a:ext uri="{FF2B5EF4-FFF2-40B4-BE49-F238E27FC236}">
                <a16:creationId xmlns:a16="http://schemas.microsoft.com/office/drawing/2014/main" id="{DB82E376-26A1-FC62-4C56-1CADA9DCD5F8}"/>
              </a:ext>
            </a:extLst>
          </p:cNvPr>
          <p:cNvPicPr>
            <a:picLocks noChangeAspect="1"/>
          </p:cNvPicPr>
          <p:nvPr/>
        </p:nvPicPr>
        <p:blipFill>
          <a:blip r:embed="rId2"/>
          <a:stretch>
            <a:fillRect/>
          </a:stretch>
        </p:blipFill>
        <p:spPr>
          <a:xfrm>
            <a:off x="2793421" y="2158169"/>
            <a:ext cx="6960180" cy="4005859"/>
          </a:xfrm>
          <a:prstGeom prst="rect">
            <a:avLst/>
          </a:prstGeom>
        </p:spPr>
      </p:pic>
    </p:spTree>
    <p:extLst>
      <p:ext uri="{BB962C8B-B14F-4D97-AF65-F5344CB8AC3E}">
        <p14:creationId xmlns:p14="http://schemas.microsoft.com/office/powerpoint/2010/main" val="1886752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33C29-962B-5F94-43A0-CA316F645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5EA27-FDB9-9439-A5C8-64EA3C6BE23F}"/>
              </a:ext>
            </a:extLst>
          </p:cNvPr>
          <p:cNvSpPr>
            <a:spLocks noGrp="1"/>
          </p:cNvSpPr>
          <p:nvPr>
            <p:ph type="title"/>
          </p:nvPr>
        </p:nvSpPr>
        <p:spPr>
          <a:xfrm>
            <a:off x="2611809" y="995422"/>
            <a:ext cx="7571678" cy="671685"/>
          </a:xfrm>
        </p:spPr>
        <p:txBody>
          <a:bodyPr>
            <a:noAutofit/>
          </a:bodyPr>
          <a:lstStyle/>
          <a:p>
            <a:pPr algn="l"/>
            <a:r>
              <a:rPr lang="en-IN" sz="3600" dirty="0"/>
              <a:t>IMPLEMENTATION AND RESULTS</a:t>
            </a:r>
          </a:p>
        </p:txBody>
      </p:sp>
      <p:sp>
        <p:nvSpPr>
          <p:cNvPr id="3" name="Rectangle 2">
            <a:extLst>
              <a:ext uri="{FF2B5EF4-FFF2-40B4-BE49-F238E27FC236}">
                <a16:creationId xmlns:a16="http://schemas.microsoft.com/office/drawing/2014/main" id="{BB513F1C-8ED2-EEAE-6BB7-71434BF17D22}"/>
              </a:ext>
            </a:extLst>
          </p:cNvPr>
          <p:cNvSpPr/>
          <p:nvPr/>
        </p:nvSpPr>
        <p:spPr>
          <a:xfrm>
            <a:off x="2307050" y="2079685"/>
            <a:ext cx="7876437" cy="42131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600" b="1" dirty="0" err="1"/>
              <a:t>GloVe</a:t>
            </a:r>
            <a:r>
              <a:rPr lang="en-US" sz="1600" b="1" dirty="0"/>
              <a:t>: </a:t>
            </a:r>
            <a:r>
              <a:rPr lang="en-US" sz="1600" dirty="0"/>
              <a:t>Achieved the highest performance due to its ability to capture rich semantic and contextual relationships from large-scale pre-trained embeddings. Its pre-training enhances the model's effectiveness in sentiment analysis.</a:t>
            </a:r>
          </a:p>
          <a:p>
            <a:pPr marL="285750" indent="-285750" algn="just">
              <a:buFont typeface="Arial" panose="020B0604020202020204" pitchFamily="34" charset="0"/>
              <a:buChar char="•"/>
            </a:pPr>
            <a:r>
              <a:rPr lang="en-US" sz="1600" b="1" dirty="0"/>
              <a:t>Sentiment-Enhanced Word Embeddings (S-ewe): </a:t>
            </a:r>
            <a:r>
              <a:rPr lang="en-US" sz="1600" dirty="0"/>
              <a:t>Performed well with high precision and F1 score, benefiting from embeddings tailored for sentiment tasks, but showed slightly lower recall, suggesting room for improvement in capturing all sentiment nuances.</a:t>
            </a:r>
          </a:p>
          <a:p>
            <a:pPr marL="285750" indent="-285750" algn="just">
              <a:buFont typeface="Arial" panose="020B0604020202020204" pitchFamily="34" charset="0"/>
              <a:buChar char="•"/>
            </a:pPr>
            <a:r>
              <a:rPr lang="en-US" sz="1600" b="1" dirty="0"/>
              <a:t>Word2Vec:</a:t>
            </a:r>
            <a:r>
              <a:rPr lang="en-US" sz="1600" dirty="0"/>
              <a:t> Underperformed as it relies on a shallow neural network and lacks sentiment-specific tuning, limiting its ability to understand broader context and intricate sentiment patterns.</a:t>
            </a:r>
          </a:p>
          <a:p>
            <a:pPr marL="285750" indent="-285750" algn="just">
              <a:buFont typeface="Arial" panose="020B0604020202020204" pitchFamily="34" charset="0"/>
              <a:buChar char="•"/>
            </a:pPr>
            <a:r>
              <a:rPr lang="en-US" sz="1600" b="1" dirty="0" err="1"/>
              <a:t>FastText</a:t>
            </a:r>
            <a:r>
              <a:rPr lang="en-US" sz="1600" b="1" dirty="0"/>
              <a:t>:</a:t>
            </a:r>
            <a:r>
              <a:rPr lang="en-US" sz="1600" dirty="0"/>
              <a:t> Slightly better than Word2Vec due to its </a:t>
            </a:r>
            <a:r>
              <a:rPr lang="en-US" sz="1600" dirty="0" err="1"/>
              <a:t>subword</a:t>
            </a:r>
            <a:r>
              <a:rPr lang="en-US" sz="1600" dirty="0"/>
              <a:t>-based embeddings, which help handle unseen words, but it struggles with precision and recall in sentiment-specific tasks.</a:t>
            </a:r>
            <a:endParaRPr lang="en-IN" sz="1600" dirty="0"/>
          </a:p>
        </p:txBody>
      </p:sp>
    </p:spTree>
    <p:extLst>
      <p:ext uri="{BB962C8B-B14F-4D97-AF65-F5344CB8AC3E}">
        <p14:creationId xmlns:p14="http://schemas.microsoft.com/office/powerpoint/2010/main" val="3938778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61B92-B11D-7733-51B7-78E754D21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1CC65-70DA-4C88-5E41-D1F278D88DA9}"/>
              </a:ext>
            </a:extLst>
          </p:cNvPr>
          <p:cNvSpPr>
            <a:spLocks noGrp="1"/>
          </p:cNvSpPr>
          <p:nvPr>
            <p:ph type="title"/>
          </p:nvPr>
        </p:nvSpPr>
        <p:spPr>
          <a:xfrm>
            <a:off x="2611809" y="995422"/>
            <a:ext cx="7571678" cy="671685"/>
          </a:xfrm>
        </p:spPr>
        <p:txBody>
          <a:bodyPr>
            <a:noAutofit/>
          </a:bodyPr>
          <a:lstStyle/>
          <a:p>
            <a:pPr algn="l"/>
            <a:r>
              <a:rPr lang="en-IN" sz="3600" dirty="0"/>
              <a:t>What to be done next?</a:t>
            </a:r>
          </a:p>
        </p:txBody>
      </p:sp>
      <p:sp>
        <p:nvSpPr>
          <p:cNvPr id="3" name="Rectangle 2">
            <a:extLst>
              <a:ext uri="{FF2B5EF4-FFF2-40B4-BE49-F238E27FC236}">
                <a16:creationId xmlns:a16="http://schemas.microsoft.com/office/drawing/2014/main" id="{481F5AE9-96B9-F458-120D-E64DF69412B7}"/>
              </a:ext>
            </a:extLst>
          </p:cNvPr>
          <p:cNvSpPr/>
          <p:nvPr/>
        </p:nvSpPr>
        <p:spPr>
          <a:xfrm>
            <a:off x="2463316" y="2373082"/>
            <a:ext cx="7571679" cy="20024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t>Evaluate &amp; Compare Performance Across Datasets</a:t>
            </a:r>
            <a:r>
              <a:rPr lang="en-US" dirty="0"/>
              <a:t>: Test each embedding on diverse sentiment datasets to identify the best-performing model for various contexts, domains, and languages. </a:t>
            </a:r>
          </a:p>
          <a:p>
            <a:pPr algn="just"/>
            <a:endParaRPr lang="en-IN" dirty="0"/>
          </a:p>
        </p:txBody>
      </p:sp>
    </p:spTree>
    <p:extLst>
      <p:ext uri="{BB962C8B-B14F-4D97-AF65-F5344CB8AC3E}">
        <p14:creationId xmlns:p14="http://schemas.microsoft.com/office/powerpoint/2010/main" val="4014808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EC3D0-9B8F-36CF-6FFA-D888E9323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8403D-064C-9953-E535-802C66D9FDBE}"/>
              </a:ext>
            </a:extLst>
          </p:cNvPr>
          <p:cNvSpPr>
            <a:spLocks noGrp="1"/>
          </p:cNvSpPr>
          <p:nvPr>
            <p:ph type="title"/>
          </p:nvPr>
        </p:nvSpPr>
        <p:spPr>
          <a:xfrm>
            <a:off x="2611809" y="995422"/>
            <a:ext cx="7571678" cy="671685"/>
          </a:xfrm>
        </p:spPr>
        <p:txBody>
          <a:bodyPr>
            <a:noAutofit/>
          </a:bodyPr>
          <a:lstStyle/>
          <a:p>
            <a:pPr algn="l"/>
            <a:r>
              <a:rPr lang="en-IN" sz="3600" dirty="0"/>
              <a:t>Research Paper status</a:t>
            </a:r>
          </a:p>
        </p:txBody>
      </p:sp>
      <p:sp>
        <p:nvSpPr>
          <p:cNvPr id="3" name="Rectangle 2">
            <a:extLst>
              <a:ext uri="{FF2B5EF4-FFF2-40B4-BE49-F238E27FC236}">
                <a16:creationId xmlns:a16="http://schemas.microsoft.com/office/drawing/2014/main" id="{8869601F-8791-74E4-5CFE-438474BF6426}"/>
              </a:ext>
            </a:extLst>
          </p:cNvPr>
          <p:cNvSpPr/>
          <p:nvPr/>
        </p:nvSpPr>
        <p:spPr>
          <a:xfrm>
            <a:off x="2611809" y="2071869"/>
            <a:ext cx="7571679" cy="4618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4" name="TextBox 3">
            <a:extLst>
              <a:ext uri="{FF2B5EF4-FFF2-40B4-BE49-F238E27FC236}">
                <a16:creationId xmlns:a16="http://schemas.microsoft.com/office/drawing/2014/main" id="{92F680E4-1C70-98EE-D202-D523538A963B}"/>
              </a:ext>
            </a:extLst>
          </p:cNvPr>
          <p:cNvSpPr txBox="1"/>
          <p:nvPr/>
        </p:nvSpPr>
        <p:spPr>
          <a:xfrm>
            <a:off x="2465753" y="2469661"/>
            <a:ext cx="7260493" cy="1200329"/>
          </a:xfrm>
          <a:prstGeom prst="rect">
            <a:avLst/>
          </a:prstGeom>
          <a:noFill/>
        </p:spPr>
        <p:txBody>
          <a:bodyPr wrap="square" rtlCol="0">
            <a:spAutoFit/>
          </a:bodyPr>
          <a:lstStyle/>
          <a:p>
            <a:r>
              <a:rPr lang="en-US" dirty="0"/>
              <a:t>“Research Paper drafting is underway; initial sections on introduction, literature review, and methodology have been completed. The other aspects will be completed once the implementation is completed fully.”</a:t>
            </a:r>
          </a:p>
        </p:txBody>
      </p:sp>
    </p:spTree>
    <p:extLst>
      <p:ext uri="{BB962C8B-B14F-4D97-AF65-F5344CB8AC3E}">
        <p14:creationId xmlns:p14="http://schemas.microsoft.com/office/powerpoint/2010/main" val="1430713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EB9A-522C-4181-3307-5E178BBB0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3E3BDC-D4B4-EA90-E0E8-252A2E79093D}"/>
              </a:ext>
            </a:extLst>
          </p:cNvPr>
          <p:cNvSpPr>
            <a:spLocks noGrp="1"/>
          </p:cNvSpPr>
          <p:nvPr>
            <p:ph type="title"/>
          </p:nvPr>
        </p:nvSpPr>
        <p:spPr>
          <a:xfrm>
            <a:off x="2611809" y="995422"/>
            <a:ext cx="7571678" cy="671685"/>
          </a:xfrm>
        </p:spPr>
        <p:txBody>
          <a:bodyPr>
            <a:noAutofit/>
          </a:bodyPr>
          <a:lstStyle/>
          <a:p>
            <a:pPr algn="l"/>
            <a:r>
              <a:rPr lang="en-IN" sz="3600" dirty="0"/>
              <a:t>REFRENCES</a:t>
            </a:r>
          </a:p>
        </p:txBody>
      </p:sp>
      <p:sp>
        <p:nvSpPr>
          <p:cNvPr id="3" name="Rectangle 2">
            <a:extLst>
              <a:ext uri="{FF2B5EF4-FFF2-40B4-BE49-F238E27FC236}">
                <a16:creationId xmlns:a16="http://schemas.microsoft.com/office/drawing/2014/main" id="{DB253BDD-BFB2-84DC-68EF-FAF80ECDDF92}"/>
              </a:ext>
            </a:extLst>
          </p:cNvPr>
          <p:cNvSpPr/>
          <p:nvPr/>
        </p:nvSpPr>
        <p:spPr>
          <a:xfrm>
            <a:off x="2611809" y="2071869"/>
            <a:ext cx="7571679" cy="4618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4" name="TextBox 3">
            <a:extLst>
              <a:ext uri="{FF2B5EF4-FFF2-40B4-BE49-F238E27FC236}">
                <a16:creationId xmlns:a16="http://schemas.microsoft.com/office/drawing/2014/main" id="{5A4126D7-E7A6-AEEC-A5C2-A307C4A3A275}"/>
              </a:ext>
            </a:extLst>
          </p:cNvPr>
          <p:cNvSpPr txBox="1"/>
          <p:nvPr/>
        </p:nvSpPr>
        <p:spPr>
          <a:xfrm>
            <a:off x="2611809" y="1832898"/>
            <a:ext cx="7104185" cy="4770537"/>
          </a:xfrm>
          <a:prstGeom prst="rect">
            <a:avLst/>
          </a:prstGeom>
          <a:noFill/>
        </p:spPr>
        <p:txBody>
          <a:bodyPr wrap="square" rtlCol="0">
            <a:spAutoFit/>
          </a:bodyPr>
          <a:lstStyle/>
          <a:p>
            <a:pPr marL="342900" indent="-342900">
              <a:buAutoNum type="arabicPeriod"/>
            </a:pPr>
            <a:r>
              <a:rPr lang="en-US" sz="1600" dirty="0"/>
              <a:t>J. Li et al., "Vector Database Systems: A Survey," 2022.</a:t>
            </a:r>
          </a:p>
          <a:p>
            <a:pPr marL="342900" indent="-342900">
              <a:buAutoNum type="arabicPeriod"/>
            </a:pPr>
            <a:r>
              <a:rPr lang="en-US" sz="1600" dirty="0"/>
              <a:t>A. K. Singh et al., "Efficient Similarity Search in Vector Databases," ACM Digital Library, 2020.</a:t>
            </a:r>
          </a:p>
          <a:p>
            <a:pPr marL="342900" indent="-342900">
              <a:buAutoNum type="arabicPeriod"/>
            </a:pPr>
            <a:r>
              <a:rPr lang="en-US" sz="1600" dirty="0"/>
              <a:t>Y. Zhang et al., "Vector Database for Natural Language Processing," IEEE Xplore, 2022.</a:t>
            </a:r>
          </a:p>
          <a:p>
            <a:pPr marL="342900" indent="-342900">
              <a:buAutoNum type="arabicPeriod"/>
            </a:pPr>
            <a:r>
              <a:rPr lang="en-US" sz="1600" dirty="0"/>
              <a:t>T. Meng et al., "Sentiment Analysis Using Vector Space Models," ResearchGate, 2018.</a:t>
            </a:r>
          </a:p>
          <a:p>
            <a:pPr marL="342900" indent="-342900">
              <a:buAutoNum type="arabicPeriod"/>
            </a:pPr>
            <a:r>
              <a:rPr lang="en-US" sz="1600" dirty="0"/>
              <a:t>J. Wang et al., "An Efficient Indexing Method for Vector Databases," ScienceDirect, 2020.</a:t>
            </a:r>
          </a:p>
          <a:p>
            <a:pPr marL="342900" indent="-342900">
              <a:buAutoNum type="arabicPeriod"/>
            </a:pPr>
            <a:r>
              <a:rPr lang="en-US" sz="1600" dirty="0"/>
              <a:t>H. Chen et al., "Distributed Vector Database for Scalable NLP," 2022.</a:t>
            </a:r>
          </a:p>
          <a:p>
            <a:pPr marL="342900" indent="-342900">
              <a:buAutoNum type="arabicPeriod"/>
            </a:pPr>
            <a:r>
              <a:rPr lang="en-US" sz="1600" dirty="0"/>
              <a:t>X. Liu et al., "Vector Database Retrieval for Open-Domain Question Answering," ACL Anthology, DOI: 10.18653/v1/2022.acl-long.331, 2022.</a:t>
            </a:r>
          </a:p>
          <a:p>
            <a:pPr marL="342900" indent="-342900">
              <a:buFont typeface="+mj-lt"/>
              <a:buAutoNum type="arabicPeriod" startAt="8"/>
            </a:pPr>
            <a:endParaRPr lang="en-US" sz="1600" dirty="0"/>
          </a:p>
          <a:p>
            <a:pPr marL="342900" indent="-342900">
              <a:buFont typeface="+mj-lt"/>
              <a:buAutoNum type="arabicPeriod" startAt="8"/>
            </a:pPr>
            <a:r>
              <a:rPr lang="en-US" sz="1600" dirty="0"/>
              <a:t>J. Kim et al., "Improving Sentiment Analysis with Vector Space        Model," IEEE Xplore,, 2020.</a:t>
            </a:r>
          </a:p>
          <a:p>
            <a:pPr marL="342900" indent="-342900">
              <a:buFont typeface="+mj-lt"/>
              <a:buAutoNum type="arabicPeriod" startAt="8"/>
            </a:pPr>
            <a:r>
              <a:rPr lang="en-US" sz="1600" dirty="0"/>
              <a:t> S. Kumar et al., "Vector Database for Multi-Language Sentiment Analysis," ResearchGate, 2022.</a:t>
            </a:r>
          </a:p>
          <a:p>
            <a:pPr marL="342900" indent="-342900">
              <a:buFont typeface="+mj-lt"/>
              <a:buAutoNum type="arabicPeriod" startAt="8"/>
            </a:pPr>
            <a:r>
              <a:rPr lang="en-US" sz="1600" dirty="0"/>
              <a:t>Q. Zhang et al., "Efficient Vector Database Search for NLP Applications," 2022.</a:t>
            </a:r>
          </a:p>
        </p:txBody>
      </p:sp>
    </p:spTree>
    <p:extLst>
      <p:ext uri="{BB962C8B-B14F-4D97-AF65-F5344CB8AC3E}">
        <p14:creationId xmlns:p14="http://schemas.microsoft.com/office/powerpoint/2010/main" val="1233615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320</TotalTime>
  <Words>1228</Words>
  <Application>Microsoft Office PowerPoint</Application>
  <PresentationFormat>Widescreen</PresentationFormat>
  <Paragraphs>124</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__fkGroteskNeue_598ab8</vt:lpstr>
      <vt:lpstr>Arial</vt:lpstr>
      <vt:lpstr>MS Shell Dlg 2</vt:lpstr>
      <vt:lpstr>Wingdings</vt:lpstr>
      <vt:lpstr>Wingdings 3</vt:lpstr>
      <vt:lpstr>Madison</vt:lpstr>
      <vt:lpstr>Role of Vector Embeddings in Sentiment Analysis</vt:lpstr>
      <vt:lpstr>INTRODUCTION</vt:lpstr>
      <vt:lpstr>Vector Embeddings in NLP</vt:lpstr>
      <vt:lpstr>PROBLEM STATEMENT</vt:lpstr>
      <vt:lpstr>Research Objective</vt:lpstr>
      <vt:lpstr>PROPOSED SYSTEM</vt:lpstr>
      <vt:lpstr>PROPOSED SYSTEM</vt:lpstr>
      <vt:lpstr>PROPOSED SYSTEM</vt:lpstr>
      <vt:lpstr>PROPOSED SYSTEM</vt:lpstr>
      <vt:lpstr>PROPOSED SYSTEM</vt:lpstr>
      <vt:lpstr>PROPOSED SYSTEM</vt:lpstr>
      <vt:lpstr>PROPOSED SYSTEM</vt:lpstr>
      <vt:lpstr>PROPOSED SYSTEM</vt:lpstr>
      <vt:lpstr>IMPLEMENTATION AND RESULTS</vt:lpstr>
      <vt:lpstr>IMPLEMENTATION AND RESULTS</vt:lpstr>
      <vt:lpstr>What to be done next?</vt:lpstr>
      <vt:lpstr>Research Paper status</vt:lpstr>
      <vt:lpstr>REFRENCES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Anushka Pawan</dc:creator>
  <cp:lastModifiedBy>Aryan Sinha</cp:lastModifiedBy>
  <cp:revision>6</cp:revision>
  <dcterms:created xsi:type="dcterms:W3CDTF">2024-11-05T17:48:50Z</dcterms:created>
  <dcterms:modified xsi:type="dcterms:W3CDTF">2024-11-19T05:57:21Z</dcterms:modified>
</cp:coreProperties>
</file>